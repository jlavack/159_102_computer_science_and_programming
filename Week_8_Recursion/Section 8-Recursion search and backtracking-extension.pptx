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6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5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8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9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5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6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5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4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5FDF0-488E-4DEF-8E6D-7A7438BCCC94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11E0D-EFDB-4787-BAF6-BBB32CAAF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0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2D71-2518-1B94-E2A1-99AFB1641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Section 8: Recursion, Search and Backtracking</a:t>
            </a:r>
            <a:br>
              <a:rPr lang="en-US"/>
            </a:br>
            <a:r>
              <a:rPr lang="en-US"/>
              <a:t>Extension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D5143-42FB-8712-7707-33824E348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Xiaofan Chen</a:t>
            </a:r>
          </a:p>
          <a:p>
            <a:r>
              <a:rPr lang="en-US" dirty="0"/>
              <a:t>x.chen3@massey.ac.nz</a:t>
            </a:r>
          </a:p>
        </p:txBody>
      </p:sp>
    </p:spTree>
    <p:extLst>
      <p:ext uri="{BB962C8B-B14F-4D97-AF65-F5344CB8AC3E}">
        <p14:creationId xmlns:p14="http://schemas.microsoft.com/office/powerpoint/2010/main" val="198049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F80C-2022-B184-8113-CD4008F83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115736"/>
          </a:xfrm>
        </p:spPr>
        <p:txBody>
          <a:bodyPr/>
          <a:lstStyle/>
          <a:p>
            <a:r>
              <a:rPr lang="en-US" b="1" dirty="0">
                <a:latin typeface="+mn-lt"/>
              </a:rPr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DE738-5219-8C98-053D-BE1FD9A9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7" y="1115737"/>
            <a:ext cx="8070733" cy="864065"/>
          </a:xfrm>
        </p:spPr>
        <p:txBody>
          <a:bodyPr/>
          <a:lstStyle/>
          <a:p>
            <a:r>
              <a:rPr lang="en-US" dirty="0"/>
              <a:t>Recursion: a statement in a function calls itself repeatedly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F64CAE7-F15E-23E8-DFBD-D45A4AD4B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17" y="1857384"/>
            <a:ext cx="6870583" cy="4715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B12A65-F2D0-A64B-BCD8-F39868B02C90}"/>
              </a:ext>
            </a:extLst>
          </p:cNvPr>
          <p:cNvSpPr txBox="1"/>
          <p:nvPr/>
        </p:nvSpPr>
        <p:spPr>
          <a:xfrm>
            <a:off x="209725" y="6573102"/>
            <a:ext cx="5696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https://www.programiz.com/cpp-programming/recursion</a:t>
            </a:r>
          </a:p>
        </p:txBody>
      </p:sp>
    </p:spTree>
    <p:extLst>
      <p:ext uri="{BB962C8B-B14F-4D97-AF65-F5344CB8AC3E}">
        <p14:creationId xmlns:p14="http://schemas.microsoft.com/office/powerpoint/2010/main" val="236930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3D82-B1EE-0249-407A-F19B77FD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7" y="38678"/>
            <a:ext cx="4163601" cy="13908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Recursion Example: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83E75-1C9C-B207-E438-C91D5062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68" y="1825625"/>
            <a:ext cx="4046790" cy="4351338"/>
          </a:xfrm>
        </p:spPr>
        <p:txBody>
          <a:bodyPr/>
          <a:lstStyle/>
          <a:p>
            <a:r>
              <a:rPr lang="pt-BR" dirty="0"/>
              <a:t>Factorial Formula: </a:t>
            </a:r>
          </a:p>
          <a:p>
            <a:pPr marL="457200" lvl="1" indent="0">
              <a:buNone/>
            </a:pPr>
            <a:endParaRPr lang="pt-BR" sz="900" dirty="0"/>
          </a:p>
          <a:p>
            <a:pPr marL="457200" lvl="1" indent="0">
              <a:buNone/>
            </a:pPr>
            <a:r>
              <a:rPr lang="pt-BR" sz="2600" dirty="0"/>
              <a:t>n! = n(n - 1)(n - 2) ... 2..1</a:t>
            </a:r>
          </a:p>
          <a:p>
            <a:endParaRPr lang="pt-BR" sz="1100" dirty="0"/>
          </a:p>
          <a:p>
            <a:r>
              <a:rPr lang="pt-BR" dirty="0"/>
              <a:t>Factorial of 4: </a:t>
            </a:r>
          </a:p>
          <a:p>
            <a:pPr marL="457200" lvl="1" indent="0">
              <a:buNone/>
            </a:pPr>
            <a:endParaRPr lang="pt-BR" sz="800" dirty="0"/>
          </a:p>
          <a:p>
            <a:pPr marL="457200" lvl="1" indent="0">
              <a:buNone/>
            </a:pPr>
            <a:r>
              <a:rPr lang="pt-BR" sz="2600" dirty="0"/>
              <a:t>4! = 4*3*2*1</a:t>
            </a:r>
          </a:p>
          <a:p>
            <a:r>
              <a:rPr lang="pt-BR" dirty="0"/>
              <a:t>Factorial of 5: </a:t>
            </a:r>
          </a:p>
          <a:p>
            <a:pPr lvl="1"/>
            <a:endParaRPr lang="pt-BR" sz="800" dirty="0"/>
          </a:p>
          <a:p>
            <a:pPr marL="457200" lvl="1" indent="0">
              <a:buNone/>
            </a:pPr>
            <a:r>
              <a:rPr lang="pt-BR" sz="2600" dirty="0"/>
              <a:t>5! = 5 * 4!</a:t>
            </a:r>
            <a:endParaRPr lang="en-US" sz="2600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7B8EA01B-3911-2C9C-72D1-859E5FE22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269" y="-14832"/>
            <a:ext cx="487973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084EBE-7511-E778-5765-9DFCF7C25254}"/>
              </a:ext>
            </a:extLst>
          </p:cNvPr>
          <p:cNvSpPr txBox="1"/>
          <p:nvPr/>
        </p:nvSpPr>
        <p:spPr>
          <a:xfrm>
            <a:off x="209725" y="6573102"/>
            <a:ext cx="5696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https://www.programiz.com/cpp-programming/recursion</a:t>
            </a:r>
          </a:p>
        </p:txBody>
      </p:sp>
    </p:spTree>
    <p:extLst>
      <p:ext uri="{BB962C8B-B14F-4D97-AF65-F5344CB8AC3E}">
        <p14:creationId xmlns:p14="http://schemas.microsoft.com/office/powerpoint/2010/main" val="401087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28A9-D1AA-1F1A-9835-8FDF524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25" y="38678"/>
            <a:ext cx="8305625" cy="88565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2A5A-0077-6980-397A-9CCA14872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25" y="3147161"/>
            <a:ext cx="3886200" cy="2947307"/>
          </a:xfrm>
        </p:spPr>
        <p:txBody>
          <a:bodyPr/>
          <a:lstStyle/>
          <a:p>
            <a:r>
              <a:rPr lang="en-US" dirty="0"/>
              <a:t>Iterate through the list to locate the matched item</a:t>
            </a:r>
          </a:p>
          <a:p>
            <a:r>
              <a:rPr lang="en-US" dirty="0"/>
              <a:t>Time complexity: O(n)</a:t>
            </a:r>
          </a:p>
        </p:txBody>
      </p:sp>
      <p:pic>
        <p:nvPicPr>
          <p:cNvPr id="5" name="Picture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18A4598B-C540-9812-275F-C3DD35902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712" y="862515"/>
            <a:ext cx="5559304" cy="2284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5573B9-E88A-833B-D6B6-CA84C8B141F4}"/>
              </a:ext>
            </a:extLst>
          </p:cNvPr>
          <p:cNvSpPr txBox="1"/>
          <p:nvPr/>
        </p:nvSpPr>
        <p:spPr>
          <a:xfrm>
            <a:off x="209725" y="6573102"/>
            <a:ext cx="5696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https://www.tutorialspoint.com/data_structures_algorithms/linear_search_algorithm.htm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F55B9B-2EF0-9F0F-856E-A0320A506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792" y="3147161"/>
            <a:ext cx="4291684" cy="28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4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F598-D925-91F0-F167-24296EF9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3" y="0"/>
            <a:ext cx="7886700" cy="816429"/>
          </a:xfrm>
        </p:spPr>
        <p:txBody>
          <a:bodyPr/>
          <a:lstStyle/>
          <a:p>
            <a:r>
              <a:rPr lang="en-US" b="1" dirty="0">
                <a:latin typeface="+mn-lt"/>
              </a:rPr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8CEA-0106-899F-447B-E79BE89F4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971" y="1556907"/>
            <a:ext cx="765400" cy="3110880"/>
          </a:xfrm>
        </p:spPr>
        <p:txBody>
          <a:bodyPr vert="vert270">
            <a:normAutofit/>
          </a:bodyPr>
          <a:lstStyle/>
          <a:p>
            <a:pPr marL="0" indent="0">
              <a:buNone/>
            </a:pPr>
            <a:r>
              <a:rPr lang="en-US" dirty="0"/>
              <a:t>Divide and Conquer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2A1681D-4A7F-2D4C-C0A3-44C9825EE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26" y="145426"/>
            <a:ext cx="4600575" cy="685800"/>
          </a:xfrm>
          <a:prstGeom prst="rect">
            <a:avLst/>
          </a:prstGeom>
        </p:spPr>
      </p:pic>
      <p:pic>
        <p:nvPicPr>
          <p:cNvPr id="7" name="Picture 6" descr="A screen shot of a calculator&#10;&#10;Description automatically generated with medium confidence">
            <a:extLst>
              <a:ext uri="{FF2B5EF4-FFF2-40B4-BE49-F238E27FC236}">
                <a16:creationId xmlns:a16="http://schemas.microsoft.com/office/drawing/2014/main" id="{72DEE23E-674A-C6B9-7C71-0CA8BC791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62" y="940351"/>
            <a:ext cx="4600575" cy="1000125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1232A39-4754-4240-3450-EA91EC180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951" y="2055868"/>
            <a:ext cx="4591050" cy="714375"/>
          </a:xfrm>
          <a:prstGeom prst="rect">
            <a:avLst/>
          </a:prstGeom>
        </p:spPr>
      </p:pic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21897CA-E535-BB33-27D9-28CD071B2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951" y="2879368"/>
            <a:ext cx="4600575" cy="1009650"/>
          </a:xfrm>
          <a:prstGeom prst="rect">
            <a:avLst/>
          </a:prstGeom>
        </p:spPr>
      </p:pic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8A4B357-1CBB-3E8E-2B25-73A845061C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476" y="4029313"/>
            <a:ext cx="4591050" cy="704850"/>
          </a:xfrm>
          <a:prstGeom prst="rect">
            <a:avLst/>
          </a:prstGeom>
        </p:spPr>
      </p:pic>
      <p:pic>
        <p:nvPicPr>
          <p:cNvPr id="15" name="Picture 14" descr="A close-up of a calculator&#10;&#10;Description automatically generated with medium confidence">
            <a:extLst>
              <a:ext uri="{FF2B5EF4-FFF2-40B4-BE49-F238E27FC236}">
                <a16:creationId xmlns:a16="http://schemas.microsoft.com/office/drawing/2014/main" id="{D6C574E9-3ADC-BE05-6883-EDFEC3CDE8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476" y="4874458"/>
            <a:ext cx="4600575" cy="990600"/>
          </a:xfrm>
          <a:prstGeom prst="rect">
            <a:avLst/>
          </a:prstGeom>
        </p:spPr>
      </p:pic>
      <p:pic>
        <p:nvPicPr>
          <p:cNvPr id="17" name="Picture 16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631F638B-3868-A9AD-935A-5EAFD0ABCF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476" y="6010116"/>
            <a:ext cx="4600575" cy="7143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707213-27E1-EB8C-7C38-F62170E73234}"/>
              </a:ext>
            </a:extLst>
          </p:cNvPr>
          <p:cNvSpPr txBox="1"/>
          <p:nvPr/>
        </p:nvSpPr>
        <p:spPr>
          <a:xfrm>
            <a:off x="1436914" y="986369"/>
            <a:ext cx="2751364" cy="95410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Search for 31</a:t>
            </a:r>
          </a:p>
          <a:p>
            <a:r>
              <a:rPr lang="en-US" dirty="0"/>
              <a:t>mid = low + (high - low) / 2</a:t>
            </a:r>
          </a:p>
          <a:p>
            <a:r>
              <a:rPr lang="en-US" dirty="0"/>
              <a:t>mid = 0 + (9 - 0 ) / 2 =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FECEC4-A3FC-55AC-46C6-EDBAE42E6086}"/>
              </a:ext>
            </a:extLst>
          </p:cNvPr>
          <p:cNvSpPr txBox="1"/>
          <p:nvPr/>
        </p:nvSpPr>
        <p:spPr>
          <a:xfrm>
            <a:off x="1436914" y="2963311"/>
            <a:ext cx="2751364" cy="92333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low = mid + 1 = 4 + 1 = 5</a:t>
            </a:r>
          </a:p>
          <a:p>
            <a:r>
              <a:rPr lang="en-US" dirty="0"/>
              <a:t>mid = low + (high - low) / 2</a:t>
            </a:r>
          </a:p>
          <a:p>
            <a:r>
              <a:rPr lang="en-US" dirty="0"/>
              <a:t>mid = 5 + (9 - 5 ) / 2 = 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C847A-9CCB-4F14-CF5B-C13C82A49F74}"/>
              </a:ext>
            </a:extLst>
          </p:cNvPr>
          <p:cNvSpPr txBox="1"/>
          <p:nvPr/>
        </p:nvSpPr>
        <p:spPr>
          <a:xfrm>
            <a:off x="1436914" y="4941728"/>
            <a:ext cx="2751364" cy="92333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high = mid - 1 = 7 – 1 = 6</a:t>
            </a:r>
          </a:p>
          <a:p>
            <a:r>
              <a:rPr lang="en-US" dirty="0"/>
              <a:t>mid = low + (high - low) / 2</a:t>
            </a:r>
          </a:p>
          <a:p>
            <a:r>
              <a:rPr lang="en-US" dirty="0"/>
              <a:t>mid = 5 + (6 - 5 ) / 2 =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0DFC3-21B6-44DD-7F6B-3BB4A6DDB664}"/>
              </a:ext>
            </a:extLst>
          </p:cNvPr>
          <p:cNvSpPr txBox="1"/>
          <p:nvPr/>
        </p:nvSpPr>
        <p:spPr>
          <a:xfrm>
            <a:off x="-35466" y="6581396"/>
            <a:ext cx="56961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https://www.tutorialspoint.com/data_structures_algorithms/binary_search_algorithm.htm</a:t>
            </a:r>
          </a:p>
        </p:txBody>
      </p:sp>
    </p:spTree>
    <p:extLst>
      <p:ext uri="{BB962C8B-B14F-4D97-AF65-F5344CB8AC3E}">
        <p14:creationId xmlns:p14="http://schemas.microsoft.com/office/powerpoint/2010/main" val="158972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954E-B705-C816-B106-7CF58B39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71" y="0"/>
            <a:ext cx="8303079" cy="849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Binary Search: </a:t>
            </a:r>
            <a:r>
              <a:rPr lang="en-US" b="1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Pseudocode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80E2-9581-4042-D468-297A157B5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03" y="3233057"/>
            <a:ext cx="2963868" cy="971550"/>
          </a:xfrm>
        </p:spPr>
        <p:txBody>
          <a:bodyPr>
            <a:normAutofit/>
          </a:bodyPr>
          <a:lstStyle/>
          <a:p>
            <a:r>
              <a:rPr lang="en-US" dirty="0"/>
              <a:t>Time complexity: O(log n)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AB284F6-6999-8226-F17C-09D168ABB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00" y="759279"/>
            <a:ext cx="5091243" cy="2596244"/>
          </a:xfrm>
          <a:prstGeom prst="rect">
            <a:avLst/>
          </a:prstGeo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4A28254D-3F9F-F35D-8DE5-E55E59555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01" y="3559629"/>
            <a:ext cx="5089196" cy="3271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C97555-ADAB-0FD3-EFB9-640563753532}"/>
              </a:ext>
            </a:extLst>
          </p:cNvPr>
          <p:cNvSpPr txBox="1"/>
          <p:nvPr/>
        </p:nvSpPr>
        <p:spPr>
          <a:xfrm>
            <a:off x="0" y="6573102"/>
            <a:ext cx="5905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https://www.geeksforgeeks.org/binary-search/?ref=lbp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212D6-9287-D20A-856E-C79D0DDEA07A}"/>
              </a:ext>
            </a:extLst>
          </p:cNvPr>
          <p:cNvSpPr txBox="1"/>
          <p:nvPr/>
        </p:nvSpPr>
        <p:spPr>
          <a:xfrm>
            <a:off x="1641021" y="1734235"/>
            <a:ext cx="1758097" cy="5232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Iteration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AB709-0BBC-1148-4E56-4674CD9D4C1A}"/>
              </a:ext>
            </a:extLst>
          </p:cNvPr>
          <p:cNvSpPr txBox="1"/>
          <p:nvPr/>
        </p:nvSpPr>
        <p:spPr>
          <a:xfrm>
            <a:off x="1641020" y="4933576"/>
            <a:ext cx="1758097" cy="5232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62446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0D11-9889-B059-131F-A5135DDF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79" y="1"/>
            <a:ext cx="8213271" cy="9715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31035-C4F8-E81A-CEE2-BC4BDFDC4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14" y="4229101"/>
            <a:ext cx="8335736" cy="2344002"/>
          </a:xfrm>
        </p:spPr>
        <p:txBody>
          <a:bodyPr>
            <a:normAutofit fontScale="92500"/>
          </a:bodyPr>
          <a:lstStyle/>
          <a:p>
            <a:r>
              <a:rPr lang="en-US" dirty="0"/>
              <a:t>Algorithm</a:t>
            </a:r>
          </a:p>
          <a:p>
            <a:pPr lvl="1"/>
            <a:r>
              <a:rPr lang="en-US" b="1" dirty="0"/>
              <a:t>Step 1</a:t>
            </a:r>
            <a:r>
              <a:rPr lang="en-US" dirty="0"/>
              <a:t> − if the current point is a feasible solution, return success</a:t>
            </a:r>
          </a:p>
          <a:p>
            <a:pPr lvl="1"/>
            <a:r>
              <a:rPr lang="en-US" b="1" dirty="0"/>
              <a:t>Step 2</a:t>
            </a:r>
            <a:r>
              <a:rPr lang="en-US" dirty="0"/>
              <a:t> − else if all paths are exhausted (</a:t>
            </a:r>
            <a:r>
              <a:rPr lang="en-US" dirty="0" err="1"/>
              <a:t>i.e</a:t>
            </a:r>
            <a:r>
              <a:rPr lang="en-US" dirty="0"/>
              <a:t> current point is an endpoint), return failure since we have no feasible solution.</a:t>
            </a:r>
          </a:p>
          <a:p>
            <a:pPr lvl="1"/>
            <a:r>
              <a:rPr lang="en-US" b="1" dirty="0"/>
              <a:t>Step 3</a:t>
            </a:r>
            <a:r>
              <a:rPr lang="en-US" dirty="0"/>
              <a:t> − else if the current point is not an endpoint, backtrack and explore other points and repeat the above steps.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95301D3-F179-345A-CC2B-FF5A9AB245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0" t="6861" r="10058" b="8524"/>
          <a:stretch/>
        </p:blipFill>
        <p:spPr>
          <a:xfrm>
            <a:off x="1902278" y="872497"/>
            <a:ext cx="5617029" cy="3110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047CA-8EEF-6520-FBC6-80FBD6B133C4}"/>
              </a:ext>
            </a:extLst>
          </p:cNvPr>
          <p:cNvSpPr txBox="1"/>
          <p:nvPr/>
        </p:nvSpPr>
        <p:spPr>
          <a:xfrm>
            <a:off x="0" y="6573102"/>
            <a:ext cx="5905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https://www.simplilearn.com/tutorials/data-structure-tutorial/backtracking-algorithm</a:t>
            </a:r>
          </a:p>
        </p:txBody>
      </p:sp>
    </p:spTree>
    <p:extLst>
      <p:ext uri="{BB962C8B-B14F-4D97-AF65-F5344CB8AC3E}">
        <p14:creationId xmlns:p14="http://schemas.microsoft.com/office/powerpoint/2010/main" val="34542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7283</TotalTime>
  <Words>367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Section 8: Recursion, Search and Backtracking Extension</vt:lpstr>
      <vt:lpstr>Recursion</vt:lpstr>
      <vt:lpstr>Recursion Example: Factorial</vt:lpstr>
      <vt:lpstr>Linear Search</vt:lpstr>
      <vt:lpstr>Binary Search</vt:lpstr>
      <vt:lpstr>Binary Search: Pseudocode</vt:lpstr>
      <vt:lpstr>Backtracking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8: Recursion, Search and Backtracking</dc:title>
  <dc:creator>Xiaofan Chen</dc:creator>
  <cp:lastModifiedBy>Xiaofan Chen</cp:lastModifiedBy>
  <cp:revision>16</cp:revision>
  <dcterms:created xsi:type="dcterms:W3CDTF">2022-06-29T04:10:00Z</dcterms:created>
  <dcterms:modified xsi:type="dcterms:W3CDTF">2022-09-18T21:15:23Z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2022-06-29T04:10:00Z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ac7db0ae-384e-431e-b6ee-47dc40f7803f</vt:lpwstr>
  </property>
  <property fmtid="{D5CDD505-2E9C-101B-9397-08002B2CF9AE}" pid="8" name="MSIP_Label_bd9e4d68-54d0-40a5-8c9a-85a36c87352c_ContentBits">
    <vt:lpwstr>0</vt:lpwstr>
  </property>
</Properties>
</file>